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EC92FF-EBDF-4AA1-B062-EA5877DCF7A2}">
  <a:tblStyle styleId="{84EC92FF-EBDF-4AA1-B062-EA5877DCF7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5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4.xml"/><Relationship Id="rId21" Type="http://schemas.openxmlformats.org/officeDocument/2006/relationships/font" Target="fonts/Urbanis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47850"/>
            <a:ext cx="1160145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Dominos 🍕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Predictive Purchase Order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132300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Presented by: Dinesh 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2237"/>
            <a:ext cx="53340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2237"/>
            <a:ext cx="533400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849212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1950" y="3311362"/>
            <a:ext cx="45531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Balancing ingredient inventory is critical. Over-stocking leads to waste, while under-stocking leads to lost sales and unhappy customers. We need to know exactly what to order, and when.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2849212"/>
            <a:ext cx="47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376612"/>
            <a:ext cx="45531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predictive system to accurately forecast pizza sales and dynamically generate the necessary ingredient purchase orders, optimizing our entire supply chain.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9400"/>
            <a:ext cx="53340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19400"/>
            <a:ext cx="53340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62025" y="32099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1. Sales Forecasting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676650"/>
            <a:ext cx="4552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Predict pizza sales quantity for the next week (tactical) and for 3-month (strategic) periods using time-series modeling.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77025" y="320992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2. Ingredient Planning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77025" y="3676650"/>
            <a:ext cx="4552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Automatically calculate the required quantity of every ingredient based on the sales forecast to ensure sufficient inventory for production.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Key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2237"/>
            <a:ext cx="53340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2237"/>
            <a:ext cx="533400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962025" y="3052762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Pizza Sales Data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62025" y="3519487"/>
            <a:ext cx="4552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48,620 Records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Contains historical transaction details, dates, pizza types, and order quantities.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677025" y="3052762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Pizza Ingredients Data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677025" y="3519487"/>
            <a:ext cx="45529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518 Records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 lookup dataset that maps each pizza ID to its specific recipe and required ingredient quantities (e.g., "Margherita" -&gt; 150g cheese, 100g sauce).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Understanding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2238375" y="2495550"/>
            <a:ext cx="8143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 Duplicate Rows: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datasets were found to be clean of duplicate entries.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2238375" y="3048000"/>
            <a:ext cx="8143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Minimal Missing Values: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Less than 1% of data was missing for key fields (like `pizza_category` and `pizza_name`).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2238375" y="3914775"/>
            <a:ext cx="8143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Imputation: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few missing values were handled with mode imputation to ensure a complete, high-quality dataset for modeling.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2238375" y="4781550"/>
            <a:ext cx="8143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Conclusion: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data is high-quality, reliable, and well-suited for time-series forecasting.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146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670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3382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06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Quality &amp; EDA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4897"/>
            <a:ext cx="2583656" cy="2799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281" y="2514897"/>
            <a:ext cx="2583656" cy="2799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514897"/>
            <a:ext cx="2583656" cy="27997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6843" y="2514897"/>
            <a:ext cx="2583656" cy="279975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866775" y="3400722"/>
            <a:ext cx="18902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Linear Regression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66775" y="3819822"/>
            <a:ext cx="1993106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baseline model used to capture simple, linear trends in the sales data over time.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3688556" y="3400722"/>
            <a:ext cx="7900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ARIMA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688556" y="3819822"/>
            <a:ext cx="1993106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AutoRegressive Integrated Moving Average; a classic model for standard time-series forecasting.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510337" y="3400722"/>
            <a:ext cx="8301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Prophet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510337" y="3819822"/>
            <a:ext cx="1993106" cy="1199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Facebook's model, strong at handling human-driven seasonality (weekly, holidays) and missing data.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332118" y="3400722"/>
            <a:ext cx="109013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SARIMAX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332118" y="3819822"/>
            <a:ext cx="1993106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Seasonal ARIMA with Exogenous Regressors. The chosen model for its power and flexibility.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8556" y="282922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337" y="282922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32118" y="2829222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Methodology: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Models Evaluated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8312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1738312"/>
            <a:ext cx="5334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**SARIMAX** (Seasonal AutoRegressive Integrated Moving Average with Exogenous Regressors) model was selected as the best performer.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81025" y="2824162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Why it won: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57250" y="3148012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Captures Seasonality (S):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Effectively models the complex weekly and monthly sales patterns (e.g., the "Friday night rush").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57250" y="4233862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Handles Trends (I, MA):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Accurately follows the long-term growth or decline in sales for specific pizza types.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57175" y="5379062"/>
            <a:ext cx="504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Exogenous Variables (X):</a:t>
            </a:r>
            <a:r>
              <a:rPr b="0" i="0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Provides the crucial ability to add external factors, like holidays or marketing promotions, to improve accuracy.</a:t>
            </a:r>
            <a:endParaRPr/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747837"/>
            <a:ext cx="53149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Winning Model: SARIMAX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57300"/>
            <a:ext cx="11049000" cy="531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123950" y="5943600"/>
            <a:ext cx="9944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model projects a total demand of 69,234 pizzas over 3 months, clearly capturing the weekly seasonal peaks (e.g., weekends) and troughs (e.g., mid-week).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2857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Sales Forecast: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Next 3 Months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21"/>
          <p:cNvGraphicFramePr/>
          <p:nvPr/>
        </p:nvGraphicFramePr>
        <p:xfrm>
          <a:off x="571500" y="2933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{84EC92FF-EBDF-4AA1-B062-EA5877DCF7A2}</a:tableStyleId>
              </a:tblPr>
              <a:tblGrid>
                <a:gridCol w="5580600"/>
                <a:gridCol w="5468400"/>
              </a:tblGrid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Forecast Period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Predicted Pizza Sales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CCCC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Next Week</a:t>
                      </a:r>
                      <a:r>
                        <a:rPr b="0" i="0" lang="en-US" sz="1650" u="none" cap="none" strike="noStrike">
                          <a:solidFill>
                            <a:srgbClr val="CCCCCC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(Tactical)</a:t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CCCC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3,387 pizzas</a:t>
                      </a:r>
                      <a:endParaRPr>
                        <a:solidFill>
                          <a:srgbClr val="000000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CCCC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Next 3 Months</a:t>
                      </a:r>
                      <a:r>
                        <a:rPr b="0" i="0" lang="en-US" sz="1650" u="none" cap="none" strike="noStrike">
                          <a:solidFill>
                            <a:srgbClr val="CCCCCC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(Strategic)</a:t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CCCCCC"/>
                          </a:solidFill>
                          <a:highlight>
                            <a:srgbClr val="000000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69,234 pizzas</a:t>
                      </a:r>
                      <a:endParaRPr>
                        <a:highlight>
                          <a:srgbClr val="000000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21"/>
          <p:cNvSpPr/>
          <p:nvPr/>
        </p:nvSpPr>
        <p:spPr>
          <a:xfrm>
            <a:off x="571500" y="3557587"/>
            <a:ext cx="55806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6152108" y="3557587"/>
            <a:ext cx="546839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71500" y="4224337"/>
            <a:ext cx="55806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6152108" y="4224337"/>
            <a:ext cx="546839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Forecast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Summary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110490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1123950" y="5304837"/>
            <a:ext cx="9944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"Classic Pepperoni" and "Margherita" are the dominant drivers of sales and, therefore, the most critical for ingredient inventory planning.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Next Week Forecast: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Top Pizzas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3" name="Google Shape;203;p23"/>
          <p:cNvGraphicFramePr/>
          <p:nvPr/>
        </p:nvGraphicFramePr>
        <p:xfrm>
          <a:off x="57150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{84EC92FF-EBDF-4AA1-B062-EA5877DCF7A2}</a:tableStyleId>
              </a:tblPr>
              <a:tblGrid>
                <a:gridCol w="5362275"/>
                <a:gridCol w="5686725"/>
              </a:tblGrid>
              <a:tr h="66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Ingredient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Predicted Quantity (grams)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6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Dough Base (pre-made)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550,000 g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Mozzarella Cheese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410,000 g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Tomato Sauce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340,000 g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Pepperoni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120,000 g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Chicken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85,000 g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Onions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60,000 g</a:t>
                      </a:r>
                      <a:endParaRPr>
                        <a:solidFill>
                          <a:srgbClr val="00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3"/>
          <p:cNvSpPr/>
          <p:nvPr/>
        </p:nvSpPr>
        <p:spPr>
          <a:xfrm>
            <a:off x="571500" y="2224087"/>
            <a:ext cx="53622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933777" y="2224087"/>
            <a:ext cx="56867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71500" y="2890837"/>
            <a:ext cx="53622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933777" y="2890837"/>
            <a:ext cx="56867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71500" y="3557587"/>
            <a:ext cx="53622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5933777" y="3557587"/>
            <a:ext cx="56867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71500" y="4224337"/>
            <a:ext cx="53622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5933777" y="4224337"/>
            <a:ext cx="56867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1500" y="4891087"/>
            <a:ext cx="53622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933777" y="4891087"/>
            <a:ext cx="56867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571500" y="5557837"/>
            <a:ext cx="53622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933777" y="5557837"/>
            <a:ext cx="568672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Ingredient Purchase Order </a:t>
            </a:r>
            <a:r>
              <a:rPr b="1" i="0" lang="en-US" sz="39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(Next Week)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3874950" y="2017200"/>
            <a:ext cx="44421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75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